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Attendance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58C-504F-AD58-63C62F2CD2CE}"/>
              </c:ext>
            </c:extLst>
          </c:dPt>
          <c:dPt>
            <c:idx val="1"/>
            <c:invertIfNegative val="0"/>
            <c:bubble3D val="0"/>
            <c:spPr>
              <a:solidFill>
                <a:srgbClr val="FFC7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8C-504F-AD58-63C62F2CD2CE}"/>
              </c:ext>
            </c:extLst>
          </c:dPt>
          <c:dPt>
            <c:idx val="2"/>
            <c:invertIfNegative val="0"/>
            <c:bubble3D val="0"/>
            <c:spPr>
              <a:solidFill>
                <a:srgbClr val="0279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8C-504F-AD58-63C62F2CD2CE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58C-504F-AD58-63C62F2CD2CE}"/>
              </c:ext>
            </c:extLst>
          </c:dPt>
          <c:cat>
            <c:strRef>
              <c:f>Sheet1!$A$2:$A$5</c:f>
              <c:strCache>
                <c:ptCount val="4"/>
                <c:pt idx="0">
                  <c:v>Weekday +
Weak Opp</c:v>
                </c:pt>
                <c:pt idx="1">
                  <c:v>Weekday +
Marquee</c:v>
                </c:pt>
                <c:pt idx="2">
                  <c:v>Weekend +
Weak Opp</c:v>
                </c:pt>
                <c:pt idx="3">
                  <c:v>Weekend +
Marquee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14918</c:v>
                </c:pt>
                <c:pt idx="1">
                  <c:v>16514</c:v>
                </c:pt>
                <c:pt idx="2">
                  <c:v>16661</c:v>
                </c:pt>
                <c:pt idx="3">
                  <c:v>17752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8C-504F-AD58-63C62F2CD2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3000"/>
        </c:scaling>
        <c:delete val="0"/>
        <c:axPos val="l"/>
        <c:majorGridlines>
          <c:spPr>
            <a:ln w="6350" cap="flat">
              <a:solidFill>
                <a:srgbClr val="2A1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074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640746177914201"/>
          <c:y val="5.8819626713327501E-2"/>
          <c:w val="0.85592775479336269"/>
          <c:h val="0.820099883347914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Home Attendance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17192</c:v>
                </c:pt>
                <c:pt idx="1">
                  <c:v>17485</c:v>
                </c:pt>
                <c:pt idx="2">
                  <c:v>17333</c:v>
                </c:pt>
                <c:pt idx="3">
                  <c:v>16376</c:v>
                </c:pt>
                <c:pt idx="4">
                  <c:v>16502</c:v>
                </c:pt>
                <c:pt idx="5">
                  <c:v>15438</c:v>
                </c:pt>
                <c:pt idx="6">
                  <c:v>17092</c:v>
                </c:pt>
                <c:pt idx="7">
                  <c:v>17123</c:v>
                </c:pt>
                <c:pt idx="8">
                  <c:v>16449</c:v>
                </c:pt>
                <c:pt idx="9">
                  <c:v>17169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C4-694B-8E34-A1293ECAD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4000"/>
        </c:scaling>
        <c:delete val="0"/>
        <c:axPos val="l"/>
        <c:majorGridlines>
          <c:spPr>
            <a:ln w="6350" cap="flat">
              <a:solidFill>
                <a:srgbClr val="2A1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074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11555970757893"/>
          <c:y val="4.5794363732702424E-2"/>
          <c:w val="0.85592775479336269"/>
          <c:h val="0.684333912486291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Attendance</c:v>
                </c:pt>
              </c:strCache>
            </c:strRef>
          </c:tx>
          <c:spPr>
            <a:solidFill>
              <a:srgbClr val="1A7A4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323-EA4C-B0C3-5B1C54872F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323-EA4C-B0C3-5B1C54872FA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323-EA4C-B0C3-5B1C54872FA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323-EA4C-B0C3-5B1C54872FA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323-EA4C-B0C3-5B1C54872FA3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323-EA4C-B0C3-5B1C54872FA3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323-EA4C-B0C3-5B1C54872FA3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323-EA4C-B0C3-5B1C54872FA3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323-EA4C-B0C3-5B1C54872FA3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323-EA4C-B0C3-5B1C54872FA3}"/>
              </c:ext>
            </c:extLst>
          </c:dPt>
          <c:dPt>
            <c:idx val="1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323-EA4C-B0C3-5B1C54872FA3}"/>
              </c:ext>
            </c:extLst>
          </c:dPt>
          <c:cat>
            <c:strRef>
              <c:f>Sheet1!$A$2:$A$12</c:f>
              <c:strCache>
                <c:ptCount val="11"/>
                <c:pt idx="0">
                  <c:v>Warriors</c:v>
                </c:pt>
                <c:pt idx="1">
                  <c:v>OKC</c:v>
                </c:pt>
                <c:pt idx="2">
                  <c:v>Rockets</c:v>
                </c:pt>
                <c:pt idx="3">
                  <c:v>Celtics</c:v>
                </c:pt>
                <c:pt idx="4">
                  <c:v>Lakers</c:v>
                </c:pt>
                <c:pt idx="5">
                  <c:v>…</c:v>
                </c:pt>
                <c:pt idx="6">
                  <c:v>Sacramento</c:v>
                </c:pt>
                <c:pt idx="7">
                  <c:v>Portland</c:v>
                </c:pt>
                <c:pt idx="8">
                  <c:v>Detroit</c:v>
                </c:pt>
                <c:pt idx="9">
                  <c:v>Toronto</c:v>
                </c:pt>
                <c:pt idx="10">
                  <c:v>Pelicans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18902</c:v>
                </c:pt>
                <c:pt idx="1">
                  <c:v>18087</c:v>
                </c:pt>
                <c:pt idx="2">
                  <c:v>17952</c:v>
                </c:pt>
                <c:pt idx="3">
                  <c:v>17786</c:v>
                </c:pt>
                <c:pt idx="4">
                  <c:v>17585</c:v>
                </c:pt>
                <c:pt idx="5">
                  <c:v>0</c:v>
                </c:pt>
                <c:pt idx="6">
                  <c:v>13672</c:v>
                </c:pt>
                <c:pt idx="7">
                  <c:v>14683</c:v>
                </c:pt>
                <c:pt idx="8">
                  <c:v>14744</c:v>
                </c:pt>
                <c:pt idx="9">
                  <c:v>14993</c:v>
                </c:pt>
                <c:pt idx="10">
                  <c:v>15410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323-EA4C-B0C3-5B1C54872F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2000"/>
        </c:scaling>
        <c:delete val="0"/>
        <c:axPos val="l"/>
        <c:majorGridlines>
          <c:spPr>
            <a:ln w="6350" cap="flat">
              <a:solidFill>
                <a:srgbClr val="2A1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074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1111555970757893"/>
          <c:y val="7.0307404756223657E-2"/>
          <c:w val="0.85592775479336269"/>
          <c:h val="0.836454439407195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Attendance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829-1C4A-9839-512045B6102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829-1C4A-9839-512045B6102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829-1C4A-9839-512045B6102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829-1C4A-9839-512045B61020}"/>
              </c:ext>
            </c:extLst>
          </c:dPt>
          <c:dPt>
            <c:idx val="4"/>
            <c:invertIfNegative val="0"/>
            <c:bubble3D val="0"/>
            <c:spPr>
              <a:solidFill>
                <a:srgbClr val="1A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829-1C4A-9839-512045B61020}"/>
              </c:ext>
            </c:extLst>
          </c:dPt>
          <c:dPt>
            <c:idx val="5"/>
            <c:invertIfNegative val="0"/>
            <c:bubble3D val="0"/>
            <c:spPr>
              <a:solidFill>
                <a:srgbClr val="1A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829-1C4A-9839-512045B61020}"/>
              </c:ext>
            </c:extLst>
          </c:dPt>
          <c:dPt>
            <c:idx val="6"/>
            <c:invertIfNegative val="0"/>
            <c:bubble3D val="0"/>
            <c:spPr>
              <a:solidFill>
                <a:srgbClr val="1A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829-1C4A-9839-512045B61020}"/>
              </c:ext>
            </c:extLst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15226</c:v>
                </c:pt>
                <c:pt idx="1">
                  <c:v>15365</c:v>
                </c:pt>
                <c:pt idx="2">
                  <c:v>14952</c:v>
                </c:pt>
                <c:pt idx="3">
                  <c:v>15764</c:v>
                </c:pt>
                <c:pt idx="4">
                  <c:v>17390</c:v>
                </c:pt>
                <c:pt idx="5">
                  <c:v>17122</c:v>
                </c:pt>
                <c:pt idx="6">
                  <c:v>17095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829-1C4A-9839-512045B61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3500"/>
        </c:scaling>
        <c:delete val="0"/>
        <c:axPos val="l"/>
        <c:majorGridlines>
          <c:spPr>
            <a:ln w="6350" cap="flat">
              <a:solidFill>
                <a:srgbClr val="2A1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074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Good Weather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Marquee Game</c:v>
                </c:pt>
                <c:pt idx="1">
                  <c:v>Non-Marquee Game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17752</c:v>
                </c:pt>
                <c:pt idx="1">
                  <c:v>15960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E-F543-9D25-8AB03D214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 Weather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Marquee Game</c:v>
                </c:pt>
                <c:pt idx="1">
                  <c:v>Non-Marquee Game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17200</c:v>
                </c:pt>
                <c:pt idx="1">
                  <c:v>14800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6E-F543-9D25-8AB03D214D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2000"/>
        </c:scaling>
        <c:delete val="0"/>
        <c:axPos val="l"/>
        <c:majorGridlines>
          <c:spPr>
            <a:ln w="6350" cap="flat" cmpd="sng" algn="ctr">
              <a:solidFill>
                <a:srgbClr val="2A148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0744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High-Demand Game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D-30</c:v>
                </c:pt>
                <c:pt idx="1">
                  <c:v>D-21</c:v>
                </c:pt>
                <c:pt idx="2">
                  <c:v>D-14</c:v>
                </c:pt>
                <c:pt idx="3">
                  <c:v>D-7</c:v>
                </c:pt>
                <c:pt idx="4">
                  <c:v>D-3</c:v>
                </c:pt>
                <c:pt idx="5">
                  <c:v>D-1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38</c:v>
                </c:pt>
                <c:pt idx="2">
                  <c:v>60</c:v>
                </c:pt>
                <c:pt idx="3">
                  <c:v>80</c:v>
                </c:pt>
                <c:pt idx="4">
                  <c:v>92</c:v>
                </c:pt>
                <c:pt idx="5">
                  <c:v>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82-1E47-A4F5-58CAE4AD58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Low-Demand Game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D-30</c:v>
                </c:pt>
                <c:pt idx="1">
                  <c:v>D-21</c:v>
                </c:pt>
                <c:pt idx="2">
                  <c:v>D-14</c:v>
                </c:pt>
                <c:pt idx="3">
                  <c:v>D-7</c:v>
                </c:pt>
                <c:pt idx="4">
                  <c:v>D-3</c:v>
                </c:pt>
                <c:pt idx="5">
                  <c:v>D-1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18</c:v>
                </c:pt>
                <c:pt idx="3">
                  <c:v>30</c:v>
                </c:pt>
                <c:pt idx="4">
                  <c:v>45</c:v>
                </c:pt>
                <c:pt idx="5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82-1E47-A4F5-58CAE4AD58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A148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0744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Predicted</c:v>
                </c:pt>
              </c:strCache>
            </c:strRef>
          </c:tx>
          <c:spPr>
            <a:solidFill>
              <a:srgbClr val="02798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High Demand</c:v>
                </c:pt>
                <c:pt idx="1">
                  <c:v>Medium Demand</c:v>
                </c:pt>
                <c:pt idx="2">
                  <c:v>Low Demand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18500</c:v>
                </c:pt>
                <c:pt idx="1">
                  <c:v>16000</c:v>
                </c:pt>
                <c:pt idx="2">
                  <c:v>13800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B-A541-BF81-F17FE29168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Outcome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High Demand</c:v>
                </c:pt>
                <c:pt idx="1">
                  <c:v>Medium Demand</c:v>
                </c:pt>
                <c:pt idx="2">
                  <c:v>Low Demand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18080</c:v>
                </c:pt>
                <c:pt idx="1">
                  <c:v>16385</c:v>
                </c:pt>
                <c:pt idx="2">
                  <c:v>14306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DB-A541-BF81-F17FE291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2000"/>
        </c:scaling>
        <c:delete val="0"/>
        <c:axPos val="l"/>
        <c:majorGridlines>
          <c:spPr>
            <a:ln w="6350" cap="flat">
              <a:solidFill>
                <a:srgbClr val="2A1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20744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2A1480"/>
          </a:solidFill>
          <a:ln w="12700">
            <a:solidFill>
              <a:srgbClr val="2A1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0" y="-11430"/>
            <a:ext cx="3291840" cy="51435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52160" y="0"/>
            <a:ext cx="3291840" cy="91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7315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EMPTY SEATS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279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HIGHER REVENUE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57200" y="2569464"/>
            <a:ext cx="283464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9768" y="272491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Attendance Prediction Model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Charlotte Hornets Game-Day Revenue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9768" y="35753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0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0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DSBA</a:t>
            </a:r>
            <a:r>
              <a:rPr lang="en-US" sz="10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r>
              <a:rPr lang="en-US" sz="10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</a:t>
            </a:r>
            <a:r>
              <a:rPr lang="en-US" sz="10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38912" y="398678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Karrim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Omer •  Matt Shaver  •  Omarion </a:t>
            </a:r>
            <a:r>
              <a:rPr lang="en-US" sz="12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Bitting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Daivik Nambiar •  Sherman Tse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8911" y="4480560"/>
            <a:ext cx="2719285" cy="38404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38912" y="4480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Hornets</a:t>
            </a:r>
            <a:r>
              <a:rPr lang="en-US" sz="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585216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$1.9M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585216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SEASON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46520" y="4023360"/>
            <a:ext cx="2103120" cy="54864"/>
          </a:xfrm>
          <a:prstGeom prst="rect">
            <a:avLst/>
          </a:prstGeom>
          <a:solidFill>
            <a:srgbClr val="00A3B8"/>
          </a:solidFill>
          <a:ln w="12700">
            <a:solidFill>
              <a:srgbClr val="00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5216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852160" y="46405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Targeting Low-Demand Games Early Can Unlock ~$1M+ in Additional Revenue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70432"/>
            <a:ext cx="8321040" cy="621792"/>
          </a:xfrm>
          <a:prstGeom prst="rect">
            <a:avLst/>
          </a:prstGeom>
          <a:solidFill>
            <a:srgbClr val="2A1480"/>
          </a:solidFill>
          <a:ln w="19050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" y="12070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predictive demand index model to identify low-demand games 2–3 weeks in advance, then use targeted promotions, bundle packages, and dynamic pricing for those games.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" y="1938528"/>
            <a:ext cx="4005072" cy="18288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11480" y="1920240"/>
            <a:ext cx="502920" cy="1828800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92024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05840" y="1993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Early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23317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low-demand games 2–3 weeks in advance using the demand index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weekday games against weak opponents — the highest-risk combination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1892808"/>
            <a:ext cx="4005072" cy="18288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63440" y="1920240"/>
            <a:ext cx="502920" cy="1828800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63440" y="1920240"/>
            <a:ext cx="502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257800" y="19933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Strategically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257800" y="2331720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promotions, bundle packages, and dynamic pricing specifically for flagged games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premium pricing for high-demand games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11480" y="3886200"/>
            <a:ext cx="2697480" cy="987552"/>
          </a:xfrm>
          <a:prstGeom prst="rect">
            <a:avLst/>
          </a:prstGeom>
          <a:solidFill>
            <a:srgbClr val="2A1480"/>
          </a:solidFill>
          <a:ln w="12700">
            <a:solidFill>
              <a:srgbClr val="2A14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11480" y="3886200"/>
            <a:ext cx="269748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+1,500–2,000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02920" y="445523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60891" y="3913632"/>
            <a:ext cx="2697480" cy="987552"/>
          </a:xfrm>
          <a:prstGeom prst="rect">
            <a:avLst/>
          </a:prstGeom>
          <a:solidFill>
            <a:srgbClr val="2A1480"/>
          </a:solidFill>
          <a:ln w="12700">
            <a:solidFill>
              <a:srgbClr val="2A14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264408" y="3886200"/>
            <a:ext cx="269748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64408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391017" y="441444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increase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low-demand games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6117336" y="3886200"/>
            <a:ext cx="2697480" cy="987552"/>
          </a:xfrm>
          <a:prstGeom prst="rect">
            <a:avLst/>
          </a:prstGeom>
          <a:solidFill>
            <a:srgbClr val="2A1480"/>
          </a:solidFill>
          <a:ln w="12700">
            <a:solidFill>
              <a:srgbClr val="2A148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117336" y="3886200"/>
            <a:ext cx="269748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17336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$1M+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208776" y="4453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seasonal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n-US" sz="10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Weekday Games Against Weak Opponents Leave Thousands of Empty Seats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170432"/>
            <a:ext cx="1965960" cy="22860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170432"/>
            <a:ext cx="1965960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316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$95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84632" y="21488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empty seat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" y="2450592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+ concessions avg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game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74036" y="1197864"/>
            <a:ext cx="1965960" cy="22860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574036" y="1170432"/>
            <a:ext cx="1965960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1316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~1,500–2,000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06040" y="21488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seats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06040" y="2450592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worst-case weekday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weak-opponent games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54296" y="1170432"/>
            <a:ext cx="1965960" cy="22860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54296" y="1170432"/>
            <a:ext cx="1965960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654296" y="1316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$190K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727448" y="21488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game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27448" y="2450592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high-risk games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max scenario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775704" y="1170432"/>
            <a:ext cx="1965960" cy="228600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6775704" y="1170432"/>
            <a:ext cx="1965960" cy="64008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75704" y="13167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$1.9M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6848856" y="214884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48856" y="2450592"/>
            <a:ext cx="1819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high-risk</a:t>
            </a:r>
            <a:endParaRPr lang="en-US" sz="1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per season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1367316848"/>
              </p:ext>
            </p:extLst>
          </p:nvPr>
        </p:nvGraphicFramePr>
        <p:xfrm>
          <a:off x="411480" y="3566160"/>
          <a:ext cx="53035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 23"/>
          <p:cNvSpPr/>
          <p:nvPr/>
        </p:nvSpPr>
        <p:spPr>
          <a:xfrm>
            <a:off x="411480" y="509320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by game type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897880" y="3547872"/>
            <a:ext cx="2834640" cy="1508760"/>
          </a:xfrm>
          <a:prstGeom prst="rect">
            <a:avLst/>
          </a:prstGeom>
          <a:solidFill>
            <a:srgbClr val="2A1480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035040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</a:t>
            </a: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035040" y="3913632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game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Weak opponent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Bad weather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~12,800 fans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($375K revenue gap)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01 OF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Attendance Volatility Is Concentrated in Specific Games — Not Random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456296777"/>
              </p:ext>
            </p:extLst>
          </p:nvPr>
        </p:nvGraphicFramePr>
        <p:xfrm>
          <a:off x="210312" y="2002536"/>
          <a:ext cx="574735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82557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avg home attendance (2021 excluded — COVID)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160243" y="1289656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149692" y="1300910"/>
            <a:ext cx="73152" cy="1078992"/>
          </a:xfrm>
          <a:prstGeom prst="rect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318504" y="135788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95–100%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329055" y="1807523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308657" y="200517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Lakers, Warriors, Celtics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51802" y="2503346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49692" y="2489630"/>
            <a:ext cx="7315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79818" y="258564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70–80%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279818" y="307941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279818" y="324260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r>
              <a:rPr lang="en-US" sz="12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</a:t>
            </a:r>
            <a:r>
              <a:rPr lang="en-US" sz="12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r>
              <a:rPr lang="en-US" sz="12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222844" y="3692066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6149692" y="3678350"/>
            <a:ext cx="73152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08657" y="37583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9,015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329055" y="421098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r>
              <a:rPr lang="en-US" sz="75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318504" y="445101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9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en-US" sz="9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r>
              <a:rPr lang="en-US" sz="9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r>
              <a:rPr lang="en-US" sz="9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2015–2025</a:t>
            </a:r>
            <a:r>
              <a:rPr lang="en-US" sz="900" dirty="0">
                <a:solidFill>
                  <a:srgbClr val="A4A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10312" y="1269960"/>
            <a:ext cx="5754390" cy="668568"/>
          </a:xfrm>
          <a:prstGeom prst="rect">
            <a:avLst/>
          </a:prstGeom>
          <a:solidFill>
            <a:srgbClr val="2A1480"/>
          </a:solidFill>
          <a:ln w="12700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41493" y="1311020"/>
            <a:ext cx="5534934" cy="58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 High-demand games consistently sell out. Low-demand games consistently underperform. The problem is predictable — and predictable problems are fixable.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02 OF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Opponent Quality Is the Strongest Driver of Attendance Demand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910448717"/>
              </p:ext>
            </p:extLst>
          </p:nvPr>
        </p:nvGraphicFramePr>
        <p:xfrm>
          <a:off x="411480" y="1540764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85089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 by opponent — top 5 vs bottom 5  (green = high demand, red = low demand</a:t>
            </a:r>
            <a:r>
              <a:rPr lang="en-US" sz="8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998464" y="1587655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998464" y="1587655"/>
            <a:ext cx="73152" cy="1078992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172200" y="1578511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+15–20%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172200" y="204555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r>
              <a:rPr lang="en-US" sz="75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72200" y="231460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&amp; All-Star teams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overall average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98464" y="2776375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989320" y="2803807"/>
            <a:ext cx="7315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63056" y="2803807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−15–20%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172200" y="322302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DROP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72200" y="3475891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Weak-tier opponents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overall average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98464" y="3965095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98464" y="3965095"/>
            <a:ext cx="73152" cy="10789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63056" y="4029103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+5,230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172200" y="4436011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GAP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72200" y="471490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Warriors vs Sacramento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(largest spread)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11480" y="1105485"/>
            <a:ext cx="8321040" cy="400813"/>
          </a:xfrm>
          <a:prstGeom prst="rect">
            <a:avLst/>
          </a:prstGeom>
          <a:solidFill>
            <a:srgbClr val="2A1480"/>
          </a:solidFill>
          <a:ln w="9525">
            <a:solidFill>
              <a:srgbClr val="00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94360" y="1149331"/>
            <a:ext cx="7955280" cy="288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Marquee games self-sell. Redirect promo budget toward the 21+ non-marquee games. Pre-sell group packages and premium seats for marquee matchups 60+ days in advance.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03 OF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56616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Weekday Scheduling Decreases Attendance by 10–15% Compared to Weekends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549543801"/>
              </p:ext>
            </p:extLst>
          </p:nvPr>
        </p:nvGraphicFramePr>
        <p:xfrm>
          <a:off x="457201" y="1761907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833693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weekday   green = weekend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5989320" y="1645920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989320" y="1645920"/>
            <a:ext cx="73152" cy="1078992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50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6163056" y="173736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+1,918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163056" y="2158365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FANS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63056" y="238239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Fri–Sun vs Mon–Thu average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89320" y="2834640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989320" y="2834640"/>
            <a:ext cx="7315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63056" y="287219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Wed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163056" y="3284927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DEMAND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63056" y="3571113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14,952 avg fans — hardest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to fill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89320" y="4023360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89320" y="4023360"/>
            <a:ext cx="73152" cy="10789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63056" y="404393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39.2%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163056" y="4450461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IMPORTANCE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63056" y="472973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feature in XGBoost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(day-of-week effect)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11480" y="1144415"/>
            <a:ext cx="8275319" cy="443103"/>
          </a:xfrm>
          <a:prstGeom prst="rect">
            <a:avLst/>
          </a:prstGeom>
          <a:solidFill>
            <a:srgbClr val="2A1480"/>
          </a:solidFill>
          <a:ln w="12700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22514" y="1171467"/>
            <a:ext cx="82100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Bundle promotions and cultural nights for weekday games directly address the model's #1 driver. Deploy targeted Mon–Thu packages — ticket + concession bundles, student nights, group discounts — to recover the ~1,900-seat deficit.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04 OF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Bad Weather Exacerbates Low-Demand Games but Has Minimal Impact on High-Demand Games</a:t>
            </a:r>
            <a:endParaRPr lang="en-US" sz="24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06874885"/>
              </p:ext>
            </p:extLst>
          </p:nvPr>
        </p:nvGraphicFramePr>
        <p:xfrm>
          <a:off x="411480" y="1808552"/>
          <a:ext cx="5394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677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is concentrated in non-marquee games (estimated from model — actual data pending weather API)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5989320" y="1602159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5989320" y="1602159"/>
            <a:ext cx="73152" cy="10789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163056" y="1606731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~−500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146509" y="203649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LOST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46509" y="2299389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weather impact on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non-marquee weekday games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89320" y="2790879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989320" y="2790879"/>
            <a:ext cx="73152" cy="10789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63056" y="2809167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~−100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146509" y="322521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LOST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163056" y="349235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weather impact on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marquee/weekend games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89320" y="3979599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5989320" y="3979599"/>
            <a:ext cx="73152" cy="1078992"/>
          </a:xfrm>
          <a:prstGeom prst="rect">
            <a:avLst/>
          </a:prstGeom>
          <a:solidFill>
            <a:schemeClr val="bg1"/>
          </a:solidFill>
          <a:ln w="12700">
            <a:solidFill>
              <a:srgbClr val="A4A4A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163056" y="3984171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Amplifier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63056" y="4387705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ROLE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163056" y="46778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root cause —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bad situations worse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96675" y="1114589"/>
            <a:ext cx="8321040" cy="495735"/>
          </a:xfrm>
          <a:prstGeom prst="rect">
            <a:avLst/>
          </a:prstGeom>
          <a:solidFill>
            <a:srgbClr val="2A1480"/>
          </a:solidFill>
          <a:ln w="9525">
            <a:solidFill>
              <a:srgbClr val="00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79555" y="1080407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 Rain reduces attendance only when demand is already weak. Weather is not the root cause, but it amplifies the problem — making early identification and pre-emptive action even more valuable.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4A4AA"/>
          </a:solidFill>
          <a:ln w="12700">
            <a:solidFill>
              <a:srgbClr val="A4A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65761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Ticket Sales Velocity Predicts Low-Demand Games Weeks in Advance</a:t>
            </a:r>
            <a:endParaRPr lang="en-US" sz="24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393061326"/>
              </p:ext>
            </p:extLst>
          </p:nvPr>
        </p:nvGraphicFramePr>
        <p:xfrm>
          <a:off x="411480" y="1659636"/>
          <a:ext cx="56692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750308"/>
            <a:ext cx="5669280" cy="306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game  →  % tickets sold (illustrative — actual data from Hornets ticketing system)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263640" y="1603466"/>
            <a:ext cx="246888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100"/>
          </a:p>
        </p:txBody>
      </p:sp>
      <p:sp>
        <p:nvSpPr>
          <p:cNvPr id="9" name="Shape 5"/>
          <p:cNvSpPr/>
          <p:nvPr/>
        </p:nvSpPr>
        <p:spPr>
          <a:xfrm>
            <a:off x="6263640" y="1596281"/>
            <a:ext cx="73152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37376" y="1621101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 days in advance</a:t>
            </a:r>
          </a:p>
        </p:txBody>
      </p:sp>
      <p:sp>
        <p:nvSpPr>
          <p:cNvPr id="11" name="Text 7"/>
          <p:cNvSpPr/>
          <p:nvPr/>
        </p:nvSpPr>
        <p:spPr>
          <a:xfrm>
            <a:off x="6437376" y="2025396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WINDOW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37376" y="2315609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sales at 2 weeks out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low-demand signal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263640" y="2817658"/>
            <a:ext cx="246888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63640" y="2824843"/>
            <a:ext cx="73152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37376" y="2843131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days in advance</a:t>
            </a:r>
          </a:p>
        </p:txBody>
      </p:sp>
      <p:sp>
        <p:nvSpPr>
          <p:cNvPr id="16" name="Text 12"/>
          <p:cNvSpPr/>
          <p:nvPr/>
        </p:nvSpPr>
        <p:spPr>
          <a:xfrm>
            <a:off x="6437376" y="3214116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CHANCE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437376" y="348255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deployed here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limited lead time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263640" y="4013563"/>
            <a:ext cx="246888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6263640" y="4013563"/>
            <a:ext cx="73152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37376" y="4013563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2–3x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37376" y="4402836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OUTCOMES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437376" y="4705023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action vs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intervention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11480" y="1074419"/>
            <a:ext cx="8321040" cy="450669"/>
          </a:xfrm>
          <a:prstGeom prst="rect">
            <a:avLst/>
          </a:prstGeom>
          <a:solidFill>
            <a:srgbClr val="2A1480"/>
          </a:solidFill>
          <a:ln w="9525">
            <a:solidFill>
              <a:srgbClr val="00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94360" y="11018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 Slow early sales consistently signal low-demand games. We don't need to wait until game day — by D-14, the model can already identify which games need intervention.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r>
              <a:rPr lang="en-US" sz="75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kern="0" spc="3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Demand Index Accurately Identifies High-Risk Low-Attendance Games in Advance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09728"/>
            <a:ext cx="548640" cy="548640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447687788"/>
              </p:ext>
            </p:extLst>
          </p:nvPr>
        </p:nvGraphicFramePr>
        <p:xfrm>
          <a:off x="334409" y="1726564"/>
          <a:ext cx="5472031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6588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predicted demand tier vs actual attendance outcome — test set games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5989320" y="2823710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998464" y="2823710"/>
            <a:ext cx="73152" cy="10789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163056" y="284286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163056" y="323061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163056" y="354608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40% of attendance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on unseen games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89320" y="1649532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995416" y="1642308"/>
            <a:ext cx="73152" cy="1078992"/>
          </a:xfrm>
          <a:prstGeom prst="rect">
            <a:avLst/>
          </a:prstGeom>
          <a:solidFill>
            <a:srgbClr val="00B0F0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69152" y="1662793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67%</a:t>
            </a:r>
            <a:endParaRPr lang="en-US" sz="2200" dirty="0">
              <a:solidFill>
                <a:srgbClr val="00B0F0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6169152" y="2083833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69152" y="2336381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low-demand games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under-performed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89320" y="4000500"/>
            <a:ext cx="274320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5989320" y="4000500"/>
            <a:ext cx="73152" cy="1078992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163056" y="3997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2–3 wks</a:t>
            </a:r>
            <a:endParaRPr lang="en-US" sz="2200" dirty="0">
              <a:solidFill>
                <a:srgbClr val="00B050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6163056" y="4434187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100" dirty="0">
              <a:solidFill>
                <a:srgbClr val="00B0F0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6163056" y="47045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 next season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tickets go on sale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34409" y="1084434"/>
            <a:ext cx="8398111" cy="520337"/>
          </a:xfrm>
          <a:prstGeom prst="rect">
            <a:avLst/>
          </a:prstGeom>
          <a:solidFill>
            <a:srgbClr val="2A1480"/>
          </a:solidFill>
          <a:ln w="12700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94360" y="1111867"/>
            <a:ext cx="7955280" cy="44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 The model triggers low-demand game identification 2–3 weeks earlier than observable sales patterns. High accuracy in identifying weak games where intervention has the most value.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4A4AA"/>
          </a:solidFill>
          <a:ln w="12700">
            <a:solidFill>
              <a:srgbClr val="A4A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 Fan Segments Require Different Strategies to Fill Seats</a:t>
            </a:r>
            <a:endParaRPr lang="en-US" sz="24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779959"/>
            <a:ext cx="2697480" cy="324612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776258"/>
            <a:ext cx="2697480" cy="73152"/>
          </a:xfrm>
          <a:prstGeom prst="rect">
            <a:avLst/>
          </a:prstGeom>
          <a:solidFill>
            <a:srgbClr val="00B0F0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F0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21208" y="1907975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Loyalists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208" y="2255447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fans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21208" y="2566343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regardless of opponent or day. Season ticket holders. Price insensitive.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1208" y="3563039"/>
            <a:ext cx="2478024" cy="36576"/>
          </a:xfrm>
          <a:prstGeom prst="rect">
            <a:avLst/>
          </a:prstGeom>
          <a:solidFill>
            <a:srgbClr val="00B0F0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F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21208" y="3841931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21208" y="4070531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relationship. Cross-sell premium upgrades on marquee nights.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64408" y="1779959"/>
            <a:ext cx="2697480" cy="324612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64408" y="1779959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374136" y="1907975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Chasers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374136" y="2255447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fans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74136" y="2566343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only for Lakers, Warriors, Celtics. High willingness to pay. Hard to convert for weak games.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374136" y="3563039"/>
            <a:ext cx="2478024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74136" y="3841931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374136" y="4070531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surge pricing on marquee matchups. Early access packages.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117336" y="1779959"/>
            <a:ext cx="2697480" cy="324612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17336" y="1779959"/>
            <a:ext cx="2697480" cy="73152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50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27064" y="1907975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Seekers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27064" y="2255447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fans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27064" y="2566343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and promotion-driven. Attend when the deal is right. Exactly who we target for low-demand games.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227064" y="3563039"/>
            <a:ext cx="2478024" cy="36576"/>
          </a:xfrm>
          <a:prstGeom prst="rect">
            <a:avLst/>
          </a:prstGeom>
          <a:solidFill>
            <a:srgbClr val="00B050"/>
          </a:solidFill>
          <a:ln w="12700">
            <a:solidFill>
              <a:srgbClr val="1A7A45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00B050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27064" y="3841931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27064" y="4070531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bundles, family packages, student discounts, cultural nights.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11480" y="1167311"/>
            <a:ext cx="8403336" cy="507492"/>
          </a:xfrm>
          <a:prstGeom prst="rect">
            <a:avLst/>
          </a:prstGeom>
          <a:solidFill>
            <a:srgbClr val="2A1480"/>
          </a:solidFill>
          <a:ln w="9525">
            <a:solidFill>
              <a:srgbClr val="00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2920" y="1277003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Targeted strategies are more effective than broad campaigns — and cheaper. Promotion seekers are the highest-leverage segment for low-demand game recovery.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Promotions on Low-Demand Games Can Recover $100K+ Lost Revenue per Game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5588" y="2229975"/>
            <a:ext cx="4005072" cy="1298448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45588" y="2229975"/>
            <a:ext cx="4005072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5316" y="2357991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Student Discounts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5316" y="2687175"/>
            <a:ext cx="3785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Weeknight student specials targeting UNCC, Queens, Johnson &amp; Wales. Low acquisition cost, high incremental attendance.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97548" y="2229975"/>
            <a:ext cx="4005072" cy="1298448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97548" y="2229975"/>
            <a:ext cx="4005072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07276" y="2357991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Bundle Packages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7276" y="2687175"/>
            <a:ext cx="3785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marquee game tickets with a guaranteed weekday game. Fan buys premium, receives weekday access — fills seats at marginal cost.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45588" y="3647295"/>
            <a:ext cx="4005072" cy="1298448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45588" y="3647295"/>
            <a:ext cx="4005072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5316" y="3775311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Family Packages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55316" y="4104495"/>
            <a:ext cx="3785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full price, children free. Targets Mon–Thu games where data shows the steepest demand drop.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97548" y="3647295"/>
            <a:ext cx="4005072" cy="1298448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97548" y="3647295"/>
            <a:ext cx="4005072" cy="64008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07276" y="3775311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 Cultural Nights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7276" y="4104495"/>
            <a:ext cx="3785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themed events (Latino Heritage, HBCU Night, etc.) tied to low-demand weekday dates. Expands fan base segments.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81580" y="1224135"/>
            <a:ext cx="8321040" cy="822960"/>
          </a:xfrm>
          <a:prstGeom prst="rect">
            <a:avLst/>
          </a:prstGeom>
          <a:solidFill>
            <a:srgbClr val="2A1480"/>
          </a:solidFill>
          <a:ln w="19050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564460" y="126985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64460" y="1544175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+1,500 fans per game × $95 = $142K additional revenue per game  |  Across 8–10 targeted games: $1.1M–$1.4M per season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Dynamic Pricing Captures Price-Sensitive Demand — Only Discounting Low-Demand Games</a:t>
            </a:r>
            <a:endParaRPr lang="en-US" sz="24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757026"/>
            <a:ext cx="4005072" cy="329184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629010"/>
            <a:ext cx="4005072" cy="7315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770742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Low-Demand Games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08621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</a:t>
            </a:r>
            <a:r>
              <a:rPr lang="en-US" sz="1000" i="1" dirty="0">
                <a:solidFill>
                  <a:srgbClr val="027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237881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 ticket prices 10–20% at D-14 when model flags low demand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548640" y="292092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Target Promotion Seekers who need a reason to attend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66928" y="344899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Bundle with F&amp;B credit to increase per-game spend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594360" y="399498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Goal: volume over margin — fill 1,500+ empty seats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6928" y="4516847"/>
            <a:ext cx="3730752" cy="36576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" y="4609665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+1,500 fans × $75 net = $112K recovered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663440" y="1770742"/>
            <a:ext cx="4005072" cy="3291840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663440" y="1629010"/>
            <a:ext cx="4005072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00600" y="1757026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Games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208621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Price-insensitive</a:t>
            </a:r>
            <a:r>
              <a:rPr lang="en-US" sz="10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600" y="237881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Maintain or surge-price by 10–20% for Lakers, Warriors, Celtics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4800600" y="292092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Apply dynamic pricing 60+ days out when demand peaks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18888" y="3448992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Premium seat and group packages command higher ASP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46320" y="399498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Goal: maximize revenue per seat — no discounting needed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818888" y="4516847"/>
            <a:ext cx="3730752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4609665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+$15–25 per seat × 19,000 fans = $285K+ premium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65760" y="1140458"/>
            <a:ext cx="8366760" cy="438878"/>
          </a:xfrm>
          <a:prstGeom prst="rect">
            <a:avLst/>
          </a:prstGeom>
          <a:solidFill>
            <a:srgbClr val="2A1480"/>
          </a:solidFill>
          <a:ln w="9525">
            <a:solidFill>
              <a:srgbClr val="00A3B8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32362" y="1175618"/>
            <a:ext cx="7998990" cy="35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Price low-demand games down, high-demand games up. Selective dynamic pricing avoids discounting on games that would sell anyway — protecting premium revenue while recovering lost volume.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188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 |  MONDAY MORNING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39319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Can Be Implemented Immediately</a:t>
            </a:r>
            <a:endParaRPr lang="en-US" sz="2600" dirty="0"/>
          </a:p>
        </p:txBody>
      </p:sp>
      <p:pic>
        <p:nvPicPr>
          <p:cNvPr id="5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09728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033272"/>
            <a:ext cx="832104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1480" y="1033272"/>
            <a:ext cx="502920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7043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24128" y="1106424"/>
            <a:ext cx="1280160" cy="237744"/>
          </a:xfrm>
          <a:prstGeom prst="rect">
            <a:avLst/>
          </a:prstGeom>
          <a:solidFill>
            <a:srgbClr val="2A1480"/>
          </a:solidFill>
          <a:ln w="9525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1024128" y="1118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2423160" y="10972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demand index on the remaining schedule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24128" y="141732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remaining home game using opponent, day of week, and scheduling factors. Takes minutes with the model already built.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2221992"/>
            <a:ext cx="832104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1480" y="2221992"/>
            <a:ext cx="502920" cy="1078992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235915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024128" y="2295144"/>
            <a:ext cx="1280160" cy="237744"/>
          </a:xfrm>
          <a:prstGeom prst="rect">
            <a:avLst/>
          </a:prstGeom>
          <a:solidFill>
            <a:srgbClr val="2A1480"/>
          </a:solidFill>
          <a:ln w="9525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1024128" y="2307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2423160" y="228600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games with low demand scores (&lt; 14,500 predicted)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4128" y="260604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8–12 highest-risk games for the season. These are your intervention targets — weekday + weak opponent combinations.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3410712"/>
            <a:ext cx="8321040" cy="107899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11480" y="3410712"/>
            <a:ext cx="502920" cy="10789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3547872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1033272" y="3514344"/>
            <a:ext cx="1280160" cy="237744"/>
          </a:xfrm>
          <a:prstGeom prst="rect">
            <a:avLst/>
          </a:prstGeom>
          <a:solidFill>
            <a:srgbClr val="2A1480"/>
          </a:solidFill>
          <a:ln w="9525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1024128" y="352392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out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423160" y="347472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promotions and pricing adjustments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24128" y="379476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flagged game: set dynamic pricing, activate bundle packages, schedule cultural nights or student specials at least 14 days out.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11480" y="4574866"/>
            <a:ext cx="8321040" cy="350883"/>
          </a:xfrm>
          <a:prstGeom prst="rect">
            <a:avLst/>
          </a:prstGeom>
          <a:solidFill>
            <a:srgbClr val="2A1480"/>
          </a:solidFill>
          <a:ln w="9525">
            <a:solidFill>
              <a:srgbClr val="FFC72C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2940" y="4636007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should be visible within the next few games.  Low-risk, high-impact intervention — no new infrastructure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798F"/>
          </a:solidFill>
          <a:ln w="12700">
            <a:solidFill>
              <a:srgbClr val="0279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2A1480"/>
          </a:solidFill>
          <a:ln w="12700">
            <a:solidFill>
              <a:srgbClr val="2A1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hornet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73152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97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0279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9200" dirty="0"/>
          </a:p>
        </p:txBody>
      </p:sp>
      <p:sp>
        <p:nvSpPr>
          <p:cNvPr id="6" name="Shape 3"/>
          <p:cNvSpPr/>
          <p:nvPr/>
        </p:nvSpPr>
        <p:spPr>
          <a:xfrm>
            <a:off x="1828800" y="3913632"/>
            <a:ext cx="54864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4041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stress-tested this across multiple factors — opponent, scheduling, and weather — and the conclusion remains consistent. Happy to walk through any part in more detail.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635726" y="4636008"/>
            <a:ext cx="8156448" cy="347472"/>
          </a:xfrm>
          <a:prstGeom prst="rect">
            <a:avLst/>
          </a:prstGeom>
          <a:solidFill>
            <a:srgbClr val="120744"/>
          </a:solidFill>
          <a:ln w="12700">
            <a:solidFill>
              <a:srgbClr val="120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7314" y="46451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effect: +1,918 seats  •  Opponent quality: +2,100 seats  •  Early action window: D-14  </a:t>
            </a: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 recovery potential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1477</Words>
  <Application>Microsoft Office PowerPoint</Application>
  <PresentationFormat>On-screen Show (16:9)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Empty Seats to Higher Revenue — Charlotte Hornets</dc:title>
  <dc:subject>PptxGenJS Presentation</dc:subject>
  <dc:creator>PptxGenJS</dc:creator>
  <cp:lastModifiedBy>Tse, Sherman</cp:lastModifiedBy>
  <cp:revision>86</cp:revision>
  <dcterms:created xsi:type="dcterms:W3CDTF">2026-03-26T21:51:17Z</dcterms:created>
  <dcterms:modified xsi:type="dcterms:W3CDTF">2026-03-30T16:09:26Z</dcterms:modified>
</cp:coreProperties>
</file>